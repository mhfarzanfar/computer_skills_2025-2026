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7" Type="http://schemas.openxmlformats.org/officeDocument/2006/relationships/image" Target="../media/image6.jpg" /><Relationship Id="rId6" Type="http://schemas.openxmlformats.org/officeDocument/2006/relationships/image" Target="../media/image5.jpg" /><Relationship Id="rId5" Type="http://schemas.openxmlformats.org/officeDocument/2006/relationships/image" Target="../media/image4.jpg" /><Relationship Id="rId4" Type="http://schemas.openxmlformats.org/officeDocument/2006/relationships/image" Target="../media/image3.jpg" /><Relationship Id="rId3" Type="http://schemas.openxmlformats.org/officeDocument/2006/relationships/image" Target="../media/image2.jpg" /><Relationship Id="rId2" Type="http://schemas.openxmlformats.org/officeDocument/2006/relationships/image" Target="../media/image1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Работа с графикой в LaTeX</a:t>
            </a:r>
            <a:br/>
            <a:br/>
            <a:r>
              <a:rPr/>
              <a:t>Мохаммадхоссейн Фарзанфар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 декабря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Освоить работу с графикой в LaTeX с использованием пакета TikZ: создание диаграмм, графиков, кривых и фракталов.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Набрать граф, подобный изображенному в упражнении 1.</a:t>
            </a:r>
          </a:p>
          <a:p>
            <a:pPr lvl="0" indent="-342900" marL="342900">
              <a:buAutoNum type="arabicPeriod"/>
            </a:pPr>
            <a:r>
              <a:rPr/>
              <a:t>Набрать график, подобный изображенному в упражнении 2.</a:t>
            </a:r>
          </a:p>
          <a:p>
            <a:pPr lvl="0" indent="-342900" marL="342900">
              <a:buAutoNum type="arabicPeriod"/>
            </a:pPr>
            <a:r>
              <a:rPr/>
              <a:t>Адаптировать код Sierpiński’s triangle для создания Sierpiński’s carpet.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часть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TikZ</a:t>
            </a:r>
          </a:p>
          <a:p>
            <a:pPr lvl="0" indent="0" marL="0">
              <a:buNone/>
            </a:pPr>
            <a:r>
              <a:rPr/>
              <a:t>TikZ — это инструмент для создания графики в TeX-документах. Это рекурсивная аббревиатура для “TikZ ist kein Zeichenprogramm” (TikZ не является программой для рисования). Графика в TikZ создается с помощью кода, а не рисования в графическом редакторе.</a:t>
            </a:r>
          </a:p>
          <a:p>
            <a:pPr lvl="0" indent="0" marL="0">
              <a:buNone/>
            </a:pPr>
            <a:r>
              <a:rPr/>
              <a:t>Полезные ресурсы для TikZ: - Wikibooks entry on TikZ: </a:t>
            </a:r>
            <a:r>
              <a:rPr>
                <a:latin typeface="PT Mono"/>
              </a:rPr>
              <a:t>https://en.wikibooks.org/wiki/LaTeX/PGF/TikZ</a:t>
            </a:r>
            <a:r>
              <a:rPr/>
              <a:t>. - CTAN entry on TikZ с официальным руководством: </a:t>
            </a:r>
            <a:r>
              <a:rPr>
                <a:latin typeface="PT Mono"/>
              </a:rPr>
              <a:t>https://www.ctan.org/pkg/pgf</a:t>
            </a:r>
            <a:r>
              <a:rPr/>
              <a:t>. - TeXample TikZ database с примерами: </a:t>
            </a:r>
            <a:r>
              <a:rPr>
                <a:latin typeface="PT Mono"/>
              </a:rPr>
              <a:t>https://texample.net/tikz/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Основные блоки TikZ</a:t>
            </a:r>
          </a:p>
          <a:p>
            <a:pPr lvl="0" indent="0" marL="0">
              <a:buNone/>
            </a:pPr>
            <a:r>
              <a:rPr/>
              <a:t>Для создания фигуры в TikZ загрузите пакет </a:t>
            </a:r>
            <a:r>
              <a:rPr>
                <a:latin typeface="PT Mono"/>
              </a:rPr>
              <a:t>\usepackage{tikz}</a:t>
            </a:r>
            <a:r>
              <a:rPr/>
              <a:t> в преамбуле. Фигура размещается в окружении </a:t>
            </a:r>
            <a:r>
              <a:rPr>
                <a:latin typeface="PT Mono"/>
              </a:rPr>
              <a:t>\begin{tikzpicture}</a:t>
            </a:r>
            <a:r>
              <a:rPr/>
              <a:t> … </a:t>
            </a:r>
            <a:r>
              <a:rPr>
                <a:latin typeface="PT Mono"/>
              </a:rPr>
              <a:t>\end{tikzpicture}</a:t>
            </a:r>
            <a:r>
              <a:rPr/>
              <a:t>. Каждая строка кода TikZ заканчивается точкой с запятой.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Рисование линий</a:t>
            </a:r>
          </a:p>
          <a:p>
            <a:pPr lvl="0" indent="0" marL="0">
              <a:buNone/>
            </a:pPr>
            <a:r>
              <a:rPr/>
              <a:t>Линии рисуются с помощью </a:t>
            </a:r>
            <a:r>
              <a:rPr>
                <a:latin typeface="PT Mono"/>
              </a:rPr>
              <a:t>\draw</a:t>
            </a:r>
            <a:r>
              <a:rPr/>
              <a:t>. Координаты могут быть картезианскими (x,y) или полярными (angle:length). Примеры линий: прямые, кривые, Bézier curves.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Узлы (Nodes)</a:t>
            </a:r>
          </a:p>
          <a:p>
            <a:pPr lvl="0" indent="0" marL="0">
              <a:buNone/>
            </a:pPr>
            <a:r>
              <a:rPr/>
              <a:t>Узлы — это текст или формы с текстом. Определяются с помощью </a:t>
            </a:r>
            <a:r>
              <a:rPr>
                <a:latin typeface="PT Mono"/>
              </a:rPr>
              <a:t>\node</a:t>
            </a:r>
            <a:r>
              <a:rPr/>
              <a:t>, могут иметь формы (circle, rectangle) и размещаться на координатах или вдоль путей.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Построение кривых</a:t>
            </a:r>
          </a:p>
          <a:p>
            <a:pPr lvl="0" indent="0" marL="0">
              <a:buNone/>
            </a:pPr>
            <a:r>
              <a:rPr/>
              <a:t>Кривые строятся с помощью </a:t>
            </a:r>
            <a:r>
              <a:rPr>
                <a:latin typeface="PT Mono"/>
              </a:rPr>
              <a:t>\draw</a:t>
            </a:r>
            <a:r>
              <a:rPr/>
              <a:t> plot, с указанием домена и функции, например, y = x^2.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Работа с циклами</a:t>
            </a:r>
          </a:p>
          <a:p>
            <a:pPr lvl="0" indent="0" marL="0">
              <a:buNone/>
            </a:pPr>
            <a:r>
              <a:rPr/>
              <a:t>TikZ поддерживает циклы </a:t>
            </a:r>
            <a:r>
              <a:rPr>
                <a:latin typeface="PT Mono"/>
              </a:rPr>
              <a:t>\foreach</a:t>
            </a:r>
            <a:r>
              <a:rPr/>
              <a:t> для повторяющихся элементов. Для рекурсивных фигур, как треугольник Sierpiński, используется библиотека math для определения рекурсивных функций.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Граф для упражнения 1</a:t>
            </a:r>
          </a:p>
        </p:txBody>
      </p:sp>
      <p:pic>
        <p:nvPicPr>
          <p:cNvPr descr="image08/task1-resul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7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Task1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1: Граф для упражнения 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График для упражнения 2</a:t>
            </a:r>
          </a:p>
        </p:txBody>
      </p:sp>
      <p:pic>
        <p:nvPicPr>
          <p:cNvPr descr="image08/task2-result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76600" y="1193800"/>
            <a:ext cx="259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Task2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2: График для упражнения 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Ковер Sierpiński для упражнения 3</a:t>
            </a:r>
          </a:p>
        </p:txBody>
      </p:sp>
      <p:pic>
        <p:nvPicPr>
          <p:cNvPr descr="image08/task3-result.jp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57200" y="1320800"/>
            <a:ext cx="8229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Task3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3: Ковер Sierpiński для упражнения 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Логи компиляции</a:t>
            </a:r>
          </a:p>
        </p:txBody>
      </p:sp>
      <p:pic>
        <p:nvPicPr>
          <p:cNvPr descr="image08/task1-compilation.jp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Task1 compilation</a:t>
            </a:r>
          </a:p>
        </p:txBody>
      </p:sp>
      <p:pic>
        <p:nvPicPr>
          <p:cNvPr descr="image08/task2-compilation.jp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2527300" y="1193800"/>
            <a:ext cx="410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Task2 compilation</a:t>
            </a:r>
          </a:p>
        </p:txBody>
      </p:sp>
      <p:pic>
        <p:nvPicPr>
          <p:cNvPr descr="image08/task3-compilation.jp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2552700" y="1193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Task3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Рисунок 4: Логи компиляции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№8 были освоены следующие навыки:</a:t>
            </a:r>
          </a:p>
          <a:p>
            <a:pPr lvl="0" indent="-342900" marL="342900">
              <a:buAutoNum type="arabicPeriod"/>
            </a:pPr>
            <a:r>
              <a:rPr b="1"/>
              <a:t>Создание графики в TikZ</a:t>
            </a:r>
            <a:r>
              <a:rPr/>
              <a:t>: Линии, узлы, кривые и циклы.</a:t>
            </a:r>
          </a:p>
          <a:p>
            <a:pPr lvl="0" indent="-342900" marL="342900">
              <a:buAutoNum type="arabicPeriod"/>
            </a:pPr>
            <a:r>
              <a:rPr b="1"/>
              <a:t>Построение графов</a:t>
            </a:r>
            <a:r>
              <a:rPr/>
              <a:t>: С использованием полярных координат и меток.</a:t>
            </a:r>
          </a:p>
          <a:p>
            <a:pPr lvl="0" indent="-342900" marL="342900">
              <a:buAutoNum type="arabicPeriod"/>
            </a:pPr>
            <a:r>
              <a:rPr b="1"/>
              <a:t>Построение графиков</a:t>
            </a:r>
            <a:r>
              <a:rPr/>
              <a:t>: Функций с осями и пересечениями.</a:t>
            </a:r>
          </a:p>
          <a:p>
            <a:pPr lvl="0" indent="-342900" marL="342900">
              <a:buAutoNum type="arabicPeriod"/>
            </a:pPr>
            <a:r>
              <a:rPr b="1"/>
              <a:t>Рекурсивные фигуры</a:t>
            </a:r>
            <a:r>
              <a:rPr/>
              <a:t>: Адаптация кода для фракталов, как ковер Sierpiński.</a:t>
            </a:r>
          </a:p>
          <a:p>
            <a:pPr lvl="0" indent="-342900" marL="342900">
              <a:buAutoNum type="arabicPeriod"/>
            </a:pPr>
            <a:r>
              <a:rPr b="1"/>
              <a:t>Эксперименты со стилями</a:t>
            </a:r>
            <a:r>
              <a:rPr/>
              <a:t>: Цвета, стили линий, формы узлов.</a:t>
            </a:r>
          </a:p>
          <a:p>
            <a:pPr lvl="0" indent="0" marL="0">
              <a:buNone/>
            </a:pPr>
            <a:r>
              <a:rPr/>
              <a:t>Освоение TikZ в LaTeX важно для создания профессиональной графики в научных документах, позволяя генерировать сложные изображения программно.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№8</dc:title>
  <dc:creator>Мохаммадхоссейн Фарзанфар</dc:creator>
  <cp:keywords/>
  <dcterms:created xsi:type="dcterms:W3CDTF">2026-03-12T12:54:51Z</dcterms:created>
  <dcterms:modified xsi:type="dcterms:W3CDTF">2026-03-12T12:54:51Z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19 декабря 2025</vt:lpwstr>
  </property>
  <property fmtid="{D5CDD505-2E9C-101B-9397-08002B2CF9AE}" pid="3" name="documentclass">
    <vt:lpwstr>beamer</vt:lpwstr>
  </property>
  <property fmtid="{D5CDD505-2E9C-101B-9397-08002B2CF9AE}" pid="4" name="fontsize">
    <vt:lpwstr>12pt</vt:lpwstr>
  </property>
  <property fmtid="{D5CDD505-2E9C-101B-9397-08002B2CF9AE}" pid="5" name="header-includes">
    <vt:lpwstr/>
  </property>
  <property fmtid="{D5CDD505-2E9C-101B-9397-08002B2CF9AE}" pid="6" name="indent">
    <vt:lpwstr>True</vt:lpwstr>
  </property>
  <property fmtid="{D5CDD505-2E9C-101B-9397-08002B2CF9AE}" pid="7" name="institute">
    <vt:lpwstr>РУДН, Москва, Россия</vt:lpwstr>
  </property>
  <property fmtid="{D5CDD505-2E9C-101B-9397-08002B2CF9AE}" pid="8" name="linestretch">
    <vt:lpwstr>1.5</vt:lpwstr>
  </property>
  <property fmtid="{D5CDD505-2E9C-101B-9397-08002B2CF9AE}" pid="9" name="mainfont">
    <vt:lpwstr>PT Serif</vt:lpwstr>
  </property>
  <property fmtid="{D5CDD505-2E9C-101B-9397-08002B2CF9AE}" pid="10" name="mainfontoptions">
    <vt:lpwstr>Ligatures=TeX</vt:lpwstr>
  </property>
  <property fmtid="{D5CDD505-2E9C-101B-9397-08002B2CF9AE}" pid="11" name="monofont">
    <vt:lpwstr>PT Mono</vt:lpwstr>
  </property>
  <property fmtid="{D5CDD505-2E9C-101B-9397-08002B2CF9AE}" pid="12" name="monofontoptions">
    <vt:lpwstr>Scale=MatchLowercase</vt:lpwstr>
  </property>
  <property fmtid="{D5CDD505-2E9C-101B-9397-08002B2CF9AE}" pid="13" name="papersize">
    <vt:lpwstr>a4paper</vt:lpwstr>
  </property>
  <property fmtid="{D5CDD505-2E9C-101B-9397-08002B2CF9AE}" pid="14" name="pdf-engine">
    <vt:lpwstr>lualatex</vt:lpwstr>
  </property>
  <property fmtid="{D5CDD505-2E9C-101B-9397-08002B2CF9AE}" pid="15" name="polyglossia-lang">
    <vt:lpwstr>russian</vt:lpwstr>
  </property>
  <property fmtid="{D5CDD505-2E9C-101B-9397-08002B2CF9AE}" pid="16" name="polyglossia-otherlangs">
    <vt:lpwstr>english</vt:lpwstr>
  </property>
  <property fmtid="{D5CDD505-2E9C-101B-9397-08002B2CF9AE}" pid="17" name="romanfont">
    <vt:lpwstr>PT Serif</vt:lpwstr>
  </property>
  <property fmtid="{D5CDD505-2E9C-101B-9397-08002B2CF9AE}" pid="18" name="romanfontoptions">
    <vt:lpwstr>Ligatures=TeX</vt:lpwstr>
  </property>
  <property fmtid="{D5CDD505-2E9C-101B-9397-08002B2CF9AE}" pid="19" name="sansfont">
    <vt:lpwstr>PT Sans</vt:lpwstr>
  </property>
  <property fmtid="{D5CDD505-2E9C-101B-9397-08002B2CF9AE}" pid="20" name="sansfontoptions">
    <vt:lpwstr>Ligatures=TeX,Scale=MatchLowercase</vt:lpwstr>
  </property>
  <property fmtid="{D5CDD505-2E9C-101B-9397-08002B2CF9AE}" pid="21" name="subtitle">
    <vt:lpwstr>Работа с графикой в LaTeX</vt:lpwstr>
  </property>
  <property fmtid="{D5CDD505-2E9C-101B-9397-08002B2CF9AE}" pid="22" name="toc">
    <vt:lpwstr>True</vt:lpwstr>
  </property>
  <property fmtid="{D5CDD505-2E9C-101B-9397-08002B2CF9AE}" pid="23" name="toc_depth">
    <vt:lpwstr>2</vt:lpwstr>
  </property>
</Properties>
</file>