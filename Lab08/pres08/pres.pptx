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>
        <p:scale>
          <a:sx n="125" d="100"/>
          <a:sy n="125" d="100"/>
        </p:scale>
        <p:origin x="1194" y="32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Лабораторная работа №8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Работа с графикой в LaTeX</a:t>
            </a:r>
            <a:br/>
            <a:br/>
            <a:r>
              <a:t>Мохаммадхоссейн Фарзанфар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19 декабря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Освоить работу с графикой в LaTeX с использованием пакета TikZ: создание диаграмм, графиков, кривых и фракталов.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Набрать граф, подобный изображенному в упражнении 1.</a:t>
            </a:r>
          </a:p>
          <a:p>
            <a:pPr marL="342900" lvl="0" indent="-342900">
              <a:buAutoNum type="arabicPeriod"/>
            </a:pPr>
            <a:r>
              <a:t>Набрать график, подобный изображенному в упражнении 2.</a:t>
            </a:r>
          </a:p>
          <a:p>
            <a:pPr marL="342900" lvl="0" indent="-342900">
              <a:buAutoNum type="arabicPeriod"/>
            </a:pPr>
            <a:r>
              <a:t>Адаптировать код Sierpiński’s triangle для создания Sierpiński’s carpet.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Теоретическая часть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TikZ</a:t>
            </a:r>
          </a:p>
          <a:p>
            <a:pPr marL="0" lvl="0" indent="0">
              <a:buNone/>
            </a:pPr>
            <a:r>
              <a:t>TikZ — это инструмент для создания графики в TeX-документах. Это рекурсивная аббревиатура для “TikZ ist kein Zeichenprogramm” (TikZ не является программой для рисования). Графика в TikZ создается с помощью кода, а не рисования в графическом редакторе.</a:t>
            </a:r>
          </a:p>
          <a:p>
            <a:pPr marL="0" lvl="0" indent="0">
              <a:buNone/>
            </a:pPr>
            <a:r>
              <a:t>Полезные ресурсы для TikZ: - Wikibooks entry on TikZ: https://en.wikibooks.org/wiki/LaTeX/PGF/TikZ. - CTAN entry on TikZ с официальным руководством: https://www.ctan.org/pkg/pgf. - TeXample TikZ database с примерами: https://texample.net/tikz/.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Основные блоки TikZ</a:t>
            </a:r>
          </a:p>
          <a:p>
            <a:pPr marL="0" lvl="0" indent="0">
              <a:buNone/>
            </a:pPr>
            <a:r>
              <a:t>Для создания фигуры в TikZ загрузите пакет</a:t>
            </a:r>
          </a:p>
          <a:p>
            <a:pPr marL="0" lvl="0" indent="0">
              <a:buNone/>
            </a:pPr>
            <a:r>
              <a:t>в преамбуле. Фигура размещается в окружении</a:t>
            </a:r>
          </a:p>
          <a:p>
            <a:pPr marL="0" lvl="0" indent="0">
              <a:buNone/>
            </a:pPr>
            <a:r>
              <a:t>. Каждая строка кода TikZ заканчивается точкой с запятой.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Рисование линий</a:t>
            </a:r>
          </a:p>
          <a:p>
            <a:pPr marL="0" lvl="0" indent="0">
              <a:buNone/>
            </a:pPr>
            <a:r>
              <a:t>Линии рисуются с помощью . Координаты могут быть картезианскими (x,y) или полярными (angle:length). Примеры линий: прямые, кривые, Bézier curves.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Узлы (Nodes)</a:t>
            </a:r>
          </a:p>
          <a:p>
            <a:pPr marL="0" lvl="0" indent="0">
              <a:buNone/>
            </a:pPr>
            <a:r>
              <a:t>Узлы — это текст или формы с текстом. Определяются с помощью , могут иметь формы (circle, rectangle) и размещаться на координатах или вдоль путей.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Построение кривых</a:t>
            </a:r>
          </a:p>
          <a:p>
            <a:pPr marL="0" lvl="0" indent="0">
              <a:buNone/>
            </a:pPr>
            <a:r>
              <a:t>Кривые строятся с помощью plot, с указанием домена и функции, например, y = x^2.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Работа с циклами</a:t>
            </a:r>
          </a:p>
          <a:p>
            <a:pPr marL="0" lvl="0" indent="0">
              <a:buNone/>
            </a:pPr>
            <a:r>
              <a:t>TikZ поддерживает циклы для повторяющихся элементов. Для рекурсивных фигур, как треугольник Sierpiński, используется библиотека math для определения рекурсивных функций.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Выполнение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Граф для упражнения 1</a:t>
            </a:r>
          </a:p>
        </p:txBody>
      </p:sp>
      <p:pic>
        <p:nvPicPr>
          <p:cNvPr id="4" name="Picture 1" descr="image08/task1-result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Task1 result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i="1"/>
              <a:t>Рисунок 1: Граф для упражнения 1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График для упражнения 2</a:t>
            </a:r>
          </a:p>
        </p:txBody>
      </p:sp>
      <p:pic>
        <p:nvPicPr>
          <p:cNvPr id="7" name="Picture 1" descr="image08/task2-result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2766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Task2 result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i="1"/>
              <a:t>Рисунок 2: График для упражнения 2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Ковер Sierpiński для упражнения 3</a:t>
            </a:r>
          </a:p>
        </p:txBody>
      </p:sp>
      <p:pic>
        <p:nvPicPr>
          <p:cNvPr id="10" name="Picture 1" descr="image08/task3-result.jp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57200" y="1320800"/>
            <a:ext cx="8229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Task3 result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i="1"/>
              <a:t>Рисунок 3: Ковер Sierpiński для упражнения 3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Логи компиляции</a:t>
            </a:r>
          </a:p>
        </p:txBody>
      </p:sp>
      <p:pic>
        <p:nvPicPr>
          <p:cNvPr id="13" name="Picture 1" descr="image08/task1-compilation.jpg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6670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4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Task1 compilation</a:t>
            </a:r>
          </a:p>
        </p:txBody>
      </p:sp>
      <p:pic>
        <p:nvPicPr>
          <p:cNvPr id="15" name="Picture 1" descr="image08/task2-compilation.jpg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527300" y="1193800"/>
            <a:ext cx="410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6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Task2 compilation</a:t>
            </a:r>
          </a:p>
        </p:txBody>
      </p:sp>
      <p:pic>
        <p:nvPicPr>
          <p:cNvPr id="17" name="Picture 1" descr="image08/task3-compilation.jpg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2529840" y="1200151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8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Task3 compilation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i="1"/>
              <a:t>Рисунок 4: Логи компиляции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В </a:t>
            </a:r>
            <a:r>
              <a:rPr sz="2000" dirty="0" err="1"/>
              <a:t>ходе</a:t>
            </a:r>
            <a:r>
              <a:rPr sz="2000" dirty="0"/>
              <a:t> </a:t>
            </a:r>
            <a:r>
              <a:rPr sz="2000" dirty="0" err="1"/>
              <a:t>лабораторной</a:t>
            </a:r>
            <a:r>
              <a:rPr sz="2000" dirty="0"/>
              <a:t> </a:t>
            </a:r>
            <a:r>
              <a:rPr sz="2000" dirty="0" err="1"/>
              <a:t>работы</a:t>
            </a:r>
            <a:r>
              <a:rPr sz="2000" dirty="0"/>
              <a:t> №8 </a:t>
            </a:r>
            <a:r>
              <a:rPr sz="2000" dirty="0" err="1"/>
              <a:t>были</a:t>
            </a:r>
            <a:r>
              <a:rPr sz="2000" dirty="0"/>
              <a:t> </a:t>
            </a:r>
            <a:r>
              <a:rPr sz="2000" dirty="0" err="1"/>
              <a:t>освоены</a:t>
            </a:r>
            <a:r>
              <a:rPr sz="2000" dirty="0"/>
              <a:t> </a:t>
            </a:r>
            <a:r>
              <a:rPr sz="2000" dirty="0" err="1"/>
              <a:t>следующие</a:t>
            </a:r>
            <a:r>
              <a:rPr sz="2000" dirty="0"/>
              <a:t> </a:t>
            </a:r>
            <a:r>
              <a:rPr sz="2000" dirty="0" err="1"/>
              <a:t>навыки</a:t>
            </a:r>
            <a:r>
              <a:rPr sz="2000" dirty="0"/>
              <a:t>:</a:t>
            </a:r>
          </a:p>
          <a:p>
            <a:pPr marL="342900" lvl="0" indent="-342900">
              <a:buAutoNum type="arabicPeriod"/>
            </a:pPr>
            <a:r>
              <a:rPr sz="2000" b="1" dirty="0" err="1"/>
              <a:t>Создание</a:t>
            </a:r>
            <a:r>
              <a:rPr sz="2000" b="1" dirty="0"/>
              <a:t> </a:t>
            </a:r>
            <a:r>
              <a:rPr sz="2000" b="1" dirty="0" err="1"/>
              <a:t>графики</a:t>
            </a:r>
            <a:r>
              <a:rPr sz="2000" b="1" dirty="0"/>
              <a:t> в </a:t>
            </a:r>
            <a:r>
              <a:rPr sz="2000" b="1" dirty="0" err="1"/>
              <a:t>TikZ</a:t>
            </a:r>
            <a:r>
              <a:rPr sz="2000" dirty="0"/>
              <a:t>: </a:t>
            </a:r>
            <a:r>
              <a:rPr sz="2000" dirty="0" err="1"/>
              <a:t>Линии</a:t>
            </a:r>
            <a:r>
              <a:rPr sz="2000" dirty="0"/>
              <a:t>, </a:t>
            </a:r>
            <a:r>
              <a:rPr sz="2000" dirty="0" err="1"/>
              <a:t>узлы</a:t>
            </a:r>
            <a:r>
              <a:rPr sz="2000" dirty="0"/>
              <a:t>, </a:t>
            </a:r>
            <a:r>
              <a:rPr sz="2000" dirty="0" err="1"/>
              <a:t>кривые</a:t>
            </a:r>
            <a:r>
              <a:rPr sz="2000" dirty="0"/>
              <a:t> и </a:t>
            </a:r>
            <a:r>
              <a:rPr sz="2000" dirty="0" err="1"/>
              <a:t>циклы</a:t>
            </a:r>
            <a:r>
              <a:rPr sz="2000" dirty="0"/>
              <a:t>.</a:t>
            </a:r>
          </a:p>
          <a:p>
            <a:pPr marL="342900" lvl="0" indent="-342900">
              <a:buAutoNum type="arabicPeriod"/>
            </a:pPr>
            <a:r>
              <a:rPr sz="2000" b="1" dirty="0" err="1"/>
              <a:t>Построение</a:t>
            </a:r>
            <a:r>
              <a:rPr sz="2000" b="1" dirty="0"/>
              <a:t> </a:t>
            </a:r>
            <a:r>
              <a:rPr sz="2000" b="1" dirty="0" err="1"/>
              <a:t>графов</a:t>
            </a:r>
            <a:r>
              <a:rPr sz="2000" dirty="0"/>
              <a:t>: С </a:t>
            </a:r>
            <a:r>
              <a:rPr sz="2000" dirty="0" err="1"/>
              <a:t>использованием</a:t>
            </a:r>
            <a:r>
              <a:rPr sz="2000" dirty="0"/>
              <a:t> </a:t>
            </a:r>
            <a:r>
              <a:rPr sz="2000" dirty="0" err="1"/>
              <a:t>полярных</a:t>
            </a:r>
            <a:r>
              <a:rPr sz="2000" dirty="0"/>
              <a:t> </a:t>
            </a:r>
            <a:r>
              <a:rPr sz="2000" dirty="0" err="1"/>
              <a:t>координат</a:t>
            </a:r>
            <a:r>
              <a:rPr sz="2000" dirty="0"/>
              <a:t> и </a:t>
            </a:r>
            <a:r>
              <a:rPr sz="2000" dirty="0" err="1"/>
              <a:t>меток</a:t>
            </a:r>
            <a:r>
              <a:rPr sz="2000" dirty="0"/>
              <a:t>.</a:t>
            </a:r>
          </a:p>
          <a:p>
            <a:pPr marL="342900" lvl="0" indent="-342900">
              <a:buAutoNum type="arabicPeriod"/>
            </a:pPr>
            <a:r>
              <a:rPr sz="2000" b="1" dirty="0" err="1"/>
              <a:t>Построение</a:t>
            </a:r>
            <a:r>
              <a:rPr sz="2000" b="1" dirty="0"/>
              <a:t> </a:t>
            </a:r>
            <a:r>
              <a:rPr sz="2000" b="1" dirty="0" err="1"/>
              <a:t>графиков</a:t>
            </a:r>
            <a:r>
              <a:rPr sz="2000" dirty="0"/>
              <a:t>: </a:t>
            </a:r>
            <a:r>
              <a:rPr sz="2000" dirty="0" err="1"/>
              <a:t>Функций</a:t>
            </a:r>
            <a:r>
              <a:rPr sz="2000" dirty="0"/>
              <a:t> с </a:t>
            </a:r>
            <a:r>
              <a:rPr sz="2000" dirty="0" err="1"/>
              <a:t>осями</a:t>
            </a:r>
            <a:r>
              <a:rPr sz="2000" dirty="0"/>
              <a:t> и </a:t>
            </a:r>
            <a:r>
              <a:rPr sz="2000" dirty="0" err="1"/>
              <a:t>пересечениями</a:t>
            </a:r>
            <a:r>
              <a:rPr sz="2000" dirty="0"/>
              <a:t>.</a:t>
            </a:r>
          </a:p>
          <a:p>
            <a:pPr marL="342900" lvl="0" indent="-342900">
              <a:buAutoNum type="arabicPeriod"/>
            </a:pPr>
            <a:r>
              <a:rPr sz="2000" b="1" dirty="0" err="1"/>
              <a:t>Рекурсивные</a:t>
            </a:r>
            <a:r>
              <a:rPr sz="2000" b="1" dirty="0"/>
              <a:t> </a:t>
            </a:r>
            <a:r>
              <a:rPr sz="2000" b="1" dirty="0" err="1"/>
              <a:t>фигуры</a:t>
            </a:r>
            <a:r>
              <a:rPr sz="2000" dirty="0"/>
              <a:t>: </a:t>
            </a:r>
            <a:r>
              <a:rPr sz="2000" dirty="0" err="1"/>
              <a:t>Адаптация</a:t>
            </a:r>
            <a:r>
              <a:rPr sz="2000" dirty="0"/>
              <a:t> </a:t>
            </a:r>
            <a:r>
              <a:rPr sz="2000" dirty="0" err="1"/>
              <a:t>кода</a:t>
            </a:r>
            <a:r>
              <a:rPr sz="2000" dirty="0"/>
              <a:t> </a:t>
            </a:r>
            <a:r>
              <a:rPr sz="2000" dirty="0" err="1"/>
              <a:t>для</a:t>
            </a:r>
            <a:r>
              <a:rPr sz="2000" dirty="0"/>
              <a:t> </a:t>
            </a:r>
            <a:r>
              <a:rPr sz="2000" dirty="0" err="1"/>
              <a:t>фракталов</a:t>
            </a:r>
            <a:r>
              <a:rPr sz="2000" dirty="0"/>
              <a:t>, </a:t>
            </a:r>
            <a:r>
              <a:rPr sz="2000" dirty="0" err="1"/>
              <a:t>как</a:t>
            </a:r>
            <a:r>
              <a:rPr sz="2000" dirty="0"/>
              <a:t> </a:t>
            </a:r>
            <a:r>
              <a:rPr sz="2000" dirty="0" err="1"/>
              <a:t>ковер</a:t>
            </a:r>
            <a:r>
              <a:rPr sz="2000" dirty="0"/>
              <a:t> </a:t>
            </a:r>
            <a:r>
              <a:rPr sz="2000" dirty="0" err="1"/>
              <a:t>Sierpiński</a:t>
            </a:r>
            <a:r>
              <a:rPr sz="2000" dirty="0"/>
              <a:t>.</a:t>
            </a:r>
          </a:p>
          <a:p>
            <a:pPr marL="342900" lvl="0" indent="-342900">
              <a:buAutoNum type="arabicPeriod"/>
            </a:pPr>
            <a:r>
              <a:rPr sz="2000" b="1" dirty="0" err="1"/>
              <a:t>Эксперименты</a:t>
            </a:r>
            <a:r>
              <a:rPr sz="2000" b="1" dirty="0"/>
              <a:t> </a:t>
            </a:r>
            <a:r>
              <a:rPr sz="2000" b="1" dirty="0" err="1"/>
              <a:t>со</a:t>
            </a:r>
            <a:r>
              <a:rPr sz="2000" b="1" dirty="0"/>
              <a:t> </a:t>
            </a:r>
            <a:r>
              <a:rPr sz="2000" b="1" dirty="0" err="1"/>
              <a:t>стилями</a:t>
            </a:r>
            <a:r>
              <a:rPr sz="2000" dirty="0"/>
              <a:t>: </a:t>
            </a:r>
            <a:r>
              <a:rPr sz="2000" dirty="0" err="1"/>
              <a:t>Цвета</a:t>
            </a:r>
            <a:r>
              <a:rPr sz="2000" dirty="0"/>
              <a:t>, </a:t>
            </a:r>
            <a:r>
              <a:rPr sz="2000" dirty="0" err="1"/>
              <a:t>стили</a:t>
            </a:r>
            <a:r>
              <a:rPr sz="2000" dirty="0"/>
              <a:t> </a:t>
            </a:r>
            <a:r>
              <a:rPr sz="2000" dirty="0" err="1"/>
              <a:t>линий</a:t>
            </a:r>
            <a:r>
              <a:rPr sz="2000" dirty="0"/>
              <a:t>, </a:t>
            </a:r>
            <a:r>
              <a:rPr sz="2000" dirty="0" err="1"/>
              <a:t>формы</a:t>
            </a:r>
            <a:r>
              <a:rPr sz="2000" dirty="0"/>
              <a:t> </a:t>
            </a:r>
            <a:r>
              <a:rPr sz="2000" dirty="0" err="1"/>
              <a:t>узлов</a:t>
            </a:r>
            <a:r>
              <a:rPr sz="2000" dirty="0"/>
              <a:t>.</a:t>
            </a:r>
          </a:p>
          <a:p>
            <a:pPr marL="0" lvl="0" indent="0">
              <a:buNone/>
            </a:pPr>
            <a:r>
              <a:rPr sz="2000" dirty="0" err="1"/>
              <a:t>Освоение</a:t>
            </a:r>
            <a:r>
              <a:rPr sz="2000" dirty="0"/>
              <a:t> </a:t>
            </a:r>
            <a:r>
              <a:rPr sz="2000" dirty="0" err="1"/>
              <a:t>TikZ</a:t>
            </a:r>
            <a:r>
              <a:rPr sz="2000" dirty="0"/>
              <a:t> в LaTeX </a:t>
            </a:r>
            <a:r>
              <a:rPr sz="2000" dirty="0" err="1"/>
              <a:t>важно</a:t>
            </a:r>
            <a:r>
              <a:rPr sz="2000" dirty="0"/>
              <a:t> </a:t>
            </a:r>
            <a:r>
              <a:rPr sz="2000" dirty="0" err="1"/>
              <a:t>для</a:t>
            </a:r>
            <a:r>
              <a:rPr sz="2000" dirty="0"/>
              <a:t> </a:t>
            </a:r>
            <a:r>
              <a:rPr sz="2000" dirty="0" err="1"/>
              <a:t>создания</a:t>
            </a:r>
            <a:r>
              <a:rPr sz="2000" dirty="0"/>
              <a:t> </a:t>
            </a:r>
            <a:r>
              <a:rPr sz="2000" dirty="0" err="1"/>
              <a:t>профессиональной</a:t>
            </a:r>
            <a:r>
              <a:rPr sz="2000" dirty="0"/>
              <a:t> </a:t>
            </a:r>
            <a:r>
              <a:rPr sz="2000" dirty="0" err="1"/>
              <a:t>графики</a:t>
            </a:r>
            <a:r>
              <a:rPr sz="2000" dirty="0"/>
              <a:t> в </a:t>
            </a:r>
            <a:r>
              <a:rPr sz="2000" dirty="0" err="1"/>
              <a:t>научных</a:t>
            </a:r>
            <a:r>
              <a:rPr sz="2000" dirty="0"/>
              <a:t> </a:t>
            </a:r>
            <a:r>
              <a:rPr sz="2000" dirty="0" err="1"/>
              <a:t>документах</a:t>
            </a:r>
            <a:r>
              <a:rPr sz="2000" dirty="0"/>
              <a:t>, </a:t>
            </a:r>
            <a:r>
              <a:rPr sz="2000" dirty="0" err="1"/>
              <a:t>позволяя</a:t>
            </a:r>
            <a:r>
              <a:rPr sz="2000" dirty="0"/>
              <a:t> </a:t>
            </a:r>
            <a:r>
              <a:rPr sz="2000" dirty="0" err="1"/>
              <a:t>генерировать</a:t>
            </a:r>
            <a:r>
              <a:rPr sz="2000" dirty="0"/>
              <a:t> </a:t>
            </a:r>
            <a:r>
              <a:rPr sz="2000" dirty="0" err="1"/>
              <a:t>сложные</a:t>
            </a:r>
            <a:r>
              <a:rPr sz="2000" dirty="0"/>
              <a:t> </a:t>
            </a:r>
            <a:r>
              <a:rPr sz="2000" dirty="0" err="1"/>
              <a:t>изображения</a:t>
            </a:r>
            <a:r>
              <a:rPr sz="2000" dirty="0"/>
              <a:t> </a:t>
            </a:r>
            <a:r>
              <a:rPr sz="2000" dirty="0" err="1"/>
              <a:t>программно</a:t>
            </a:r>
            <a:r>
              <a:rPr sz="2000"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459</Words>
  <Application>Microsoft Office PowerPoint</Application>
  <PresentationFormat>On-screen Show (16:9)</PresentationFormat>
  <Paragraphs>48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Лабораторная работа №8</vt:lpstr>
      <vt:lpstr>Цель работы</vt:lpstr>
      <vt:lpstr>Задание</vt:lpstr>
      <vt:lpstr>Теоретическая часть</vt:lpstr>
      <vt:lpstr>Выполнение работы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№8</dc:title>
  <dc:creator>Мохаммадхоссейн Фарзанфар</dc:creator>
  <cp:keywords/>
  <cp:lastModifiedBy>Koosha Farzanfar</cp:lastModifiedBy>
  <cp:revision>1</cp:revision>
  <dcterms:created xsi:type="dcterms:W3CDTF">2025-12-19T19:14:20Z</dcterms:created>
  <dcterms:modified xsi:type="dcterms:W3CDTF">2025-12-20T05:12:29Z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19 декабря 2025</vt:lpwstr>
  </property>
  <property fmtid="{D5CDD505-2E9C-101B-9397-08002B2CF9AE}" pid="3" name="documentclass">
    <vt:lpwstr>beamer</vt:lpwstr>
  </property>
  <property fmtid="{D5CDD505-2E9C-101B-9397-08002B2CF9AE}" pid="4" name="fontsize">
    <vt:lpwstr>12pt</vt:lpwstr>
  </property>
  <property fmtid="{D5CDD505-2E9C-101B-9397-08002B2CF9AE}" pid="5" name="header-includes">
    <vt:lpwstr/>
  </property>
  <property fmtid="{D5CDD505-2E9C-101B-9397-08002B2CF9AE}" pid="6" name="indent">
    <vt:lpwstr>True</vt:lpwstr>
  </property>
  <property fmtid="{D5CDD505-2E9C-101B-9397-08002B2CF9AE}" pid="7" name="institute">
    <vt:lpwstr>РУДН, Москва, Россия</vt:lpwstr>
  </property>
  <property fmtid="{D5CDD505-2E9C-101B-9397-08002B2CF9AE}" pid="8" name="linestretch">
    <vt:lpwstr>1.5</vt:lpwstr>
  </property>
  <property fmtid="{D5CDD505-2E9C-101B-9397-08002B2CF9AE}" pid="9" name="mainfont">
    <vt:lpwstr>PT Serif</vt:lpwstr>
  </property>
  <property fmtid="{D5CDD505-2E9C-101B-9397-08002B2CF9AE}" pid="10" name="mainfontoptions">
    <vt:lpwstr>Ligatures=TeX</vt:lpwstr>
  </property>
  <property fmtid="{D5CDD505-2E9C-101B-9397-08002B2CF9AE}" pid="11" name="monofont">
    <vt:lpwstr>PT Mono</vt:lpwstr>
  </property>
  <property fmtid="{D5CDD505-2E9C-101B-9397-08002B2CF9AE}" pid="12" name="monofontoptions">
    <vt:lpwstr>Scale=MatchLowercase</vt:lpwstr>
  </property>
  <property fmtid="{D5CDD505-2E9C-101B-9397-08002B2CF9AE}" pid="13" name="papersize">
    <vt:lpwstr>a4paper</vt:lpwstr>
  </property>
  <property fmtid="{D5CDD505-2E9C-101B-9397-08002B2CF9AE}" pid="14" name="pdf-engine">
    <vt:lpwstr>lualatex</vt:lpwstr>
  </property>
  <property fmtid="{D5CDD505-2E9C-101B-9397-08002B2CF9AE}" pid="15" name="polyglossia-lang">
    <vt:lpwstr>russian</vt:lpwstr>
  </property>
  <property fmtid="{D5CDD505-2E9C-101B-9397-08002B2CF9AE}" pid="16" name="polyglossia-otherlangs">
    <vt:lpwstr>english</vt:lpwstr>
  </property>
  <property fmtid="{D5CDD505-2E9C-101B-9397-08002B2CF9AE}" pid="17" name="romanfont">
    <vt:lpwstr>PT Serif</vt:lpwstr>
  </property>
  <property fmtid="{D5CDD505-2E9C-101B-9397-08002B2CF9AE}" pid="18" name="romanfontoptions">
    <vt:lpwstr>Ligatures=TeX</vt:lpwstr>
  </property>
  <property fmtid="{D5CDD505-2E9C-101B-9397-08002B2CF9AE}" pid="19" name="sansfont">
    <vt:lpwstr>PT Sans</vt:lpwstr>
  </property>
  <property fmtid="{D5CDD505-2E9C-101B-9397-08002B2CF9AE}" pid="20" name="sansfontoptions">
    <vt:lpwstr>Ligatures=TeX,Scale=MatchLowercase</vt:lpwstr>
  </property>
  <property fmtid="{D5CDD505-2E9C-101B-9397-08002B2CF9AE}" pid="21" name="subtitle">
    <vt:lpwstr>Работа с графикой в LaTeX</vt:lpwstr>
  </property>
  <property fmtid="{D5CDD505-2E9C-101B-9397-08002B2CF9AE}" pid="22" name="toc">
    <vt:lpwstr>True</vt:lpwstr>
  </property>
  <property fmtid="{D5CDD505-2E9C-101B-9397-08002B2CF9AE}" pid="23" name="toc_depth">
    <vt:lpwstr>2</vt:lpwstr>
  </property>
</Properties>
</file>