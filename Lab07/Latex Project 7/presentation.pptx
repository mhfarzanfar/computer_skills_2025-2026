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A Brief Introduction to LaTeX for Scientific Writing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br/>
            <a:br/>
            <a:r>
              <a:t>Mohammadhossein Farzanfar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47500" lnSpcReduction="20000"/>
              </a:bodyPr>
              <a:lstStyle/>
              <a:p>
                <a:pPr marL="0" lvl="0" indent="0">
                  <a:buNone/>
                </a:pPr>
                <a:r>
                  <a:rPr dirty="0"/>
                  <a:t>Main Message: Why Use LaTeX?</a:t>
                </a:r>
              </a:p>
              <a:p>
                <a:pPr marL="0" lvl="0" indent="0">
                  <a:buNone/>
                </a:pPr>
                <a:r>
                  <a:rPr dirty="0"/>
                  <a:t>Key Idea (Covered Early) LaTeX is great for scientific documents because it handles math, references, and structure logically – not WYSIWYG like Word. Example: Unlike word processors, LaTeX uses markup for sections.</a:t>
                </a:r>
              </a:p>
              <a:p>
                <a:pPr marL="0" lvl="0" indent="0">
                  <a:buNone/>
                </a:pPr>
                <a:r>
                  <a:rPr sz="2200" dirty="0"/>
                  <a:t>Math in LaTeX A set is a collection of objects.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20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sz="2200">
                          <a:latin typeface="Cambria Math" panose="02040503050406030204" pitchFamily="18" charset="0"/>
                        </a:rPr>
                        <m:t>={</m:t>
                      </m:r>
                      <m:r>
                        <m:rPr>
                          <m:nor/>
                        </m:rPr>
                        <a:rPr sz="2200"/>
                        <m:t>cow</m:t>
                      </m:r>
                      <m:r>
                        <a:rPr sz="220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sz="2200"/>
                        <m:t>pig</m:t>
                      </m:r>
                      <m:r>
                        <a:rPr sz="220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sz="2200"/>
                        <m:t>elephant</m:t>
                      </m:r>
                      <m:r>
                        <a:rPr sz="2200">
                          <a:latin typeface="Cambria Math" panose="02040503050406030204" pitchFamily="18" charset="0"/>
                        </a:rPr>
                        <m:t>}.</m:t>
                      </m:r>
                    </m:oMath>
                  </m:oMathPara>
                </a14:m>
                <a:endParaRPr sz="2200" dirty="0"/>
              </a:p>
              <a:p>
                <a:pPr marL="0" lvl="0" indent="0">
                  <a:buNone/>
                </a:pPr>
                <a:r>
                  <a:rPr sz="2200" dirty="0"/>
                  <a:t>$$\begin{aligned}
\uncover&lt;5-&gt;{\</a:t>
                </a:r>
                <a:r>
                  <a:rPr sz="2200" dirty="0" err="1"/>
                  <a:t>mathbb</a:t>
                </a:r>
                <a:r>
                  <a:rPr sz="2200" dirty="0"/>
                  <a:t>{N}} &amp;= \{1,2,3,\</a:t>
                </a:r>
                <a:r>
                  <a:rPr sz="2200" dirty="0" err="1"/>
                  <a:t>ldots</a:t>
                </a:r>
                <a:r>
                  <a:rPr sz="2200" dirty="0"/>
                  <a:t>\} \quad (\text{natural numbers}) \\
\uncover&lt;6-&gt;{\</a:t>
                </a:r>
                <a:r>
                  <a:rPr sz="2200" dirty="0" err="1"/>
                  <a:t>mathbb</a:t>
                </a:r>
                <a:r>
                  <a:rPr sz="2200" dirty="0"/>
                  <a:t>{Z}} &amp;= \{\ldots,-2,-1,0,1,2,\</a:t>
                </a:r>
                <a:r>
                  <a:rPr sz="2200" dirty="0" err="1"/>
                  <a:t>ldots</a:t>
                </a:r>
                <a:r>
                  <a:rPr sz="2200" dirty="0"/>
                  <a:t>\} \quad (\text{integers})
\end{aligned}$$</a:t>
                </a:r>
              </a:p>
              <a:p>
                <a:pPr marL="0" lvl="0" indent="0">
                  <a:buNone/>
                </a:pPr>
                <a:r>
                  <a:rPr sz="2200" dirty="0"/>
                  <a:t>Example: Derivative (Before Definition)</a:t>
                </a:r>
              </a:p>
              <a:p>
                <a:pPr marL="0" lvl="0" indent="0">
                  <a:buNone/>
                </a:pPr>
                <a:r>
                  <a:rPr sz="2200" dirty="0"/>
                  <a:t>Example First The derivative of </a:t>
                </a:r>
                <a14:m>
                  <m:oMath xmlns:m="http://schemas.openxmlformats.org/officeDocument/2006/math">
                    <m:r>
                      <a:rPr sz="220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sz="22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sz="22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22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22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sz="2200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sz="2200"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ctrlPr>
                          <a:rPr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sz="22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200" dirty="0"/>
                  <a:t>:</a:t>
                </a:r>
              </a:p>
              <a:p>
                <a:pPr marL="0" lvl="0" indent="0">
                  <a:buNone/>
                </a:pPr>
                <a:r>
                  <a:rPr sz="2200" dirty="0"/>
                  <a:t>$$\begin{aligned}
f'(x) \uncover&lt;2-&gt;{&amp;= 2x \</a:t>
                </a:r>
                <a:r>
                  <a:rPr sz="2200" dirty="0" err="1"/>
                  <a:t>cdot</a:t>
                </a:r>
                <a:r>
                  <a:rPr sz="2200" dirty="0"/>
                  <a:t> \sin(x) +} \uncover&lt;3-&gt;{x^2 \</a:t>
                </a:r>
                <a:r>
                  <a:rPr sz="2200" dirty="0" err="1"/>
                  <a:t>cdot</a:t>
                </a:r>
                <a:r>
                  <a:rPr sz="2200" dirty="0"/>
                  <a:t> \cos(x).}
\end{aligned}$$</a:t>
                </a:r>
              </a:p>
              <a:p>
                <a:pPr marL="0" lvl="0" indent="0">
                  <a:buNone/>
                </a:pPr>
                <a:r>
                  <a:rPr sz="2200" dirty="0"/>
                  <a:t>Definition Product rule: If </a:t>
                </a:r>
                <a14:m>
                  <m:oMath xmlns:m="http://schemas.openxmlformats.org/officeDocument/2006/math">
                    <m:r>
                      <a:rPr sz="220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sz="22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sz="2200">
                        <a:latin typeface="Cambria Math" panose="02040503050406030204" pitchFamily="18" charset="0"/>
                      </a:rPr>
                      <m:t>=</m:t>
                    </m:r>
                    <m:r>
                      <a:rPr sz="220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sz="22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sz="2200">
                        <a:latin typeface="Cambria Math" panose="02040503050406030204" pitchFamily="18" charset="0"/>
                      </a:rPr>
                      <m:t>⋅</m:t>
                    </m:r>
                    <m:r>
                      <a:rPr sz="220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sz="22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200" dirty="0"/>
                  <a:t>, then </a:t>
                </a:r>
                <a14:m>
                  <m:oMath xmlns:m="http://schemas.openxmlformats.org/officeDocument/2006/math">
                    <m:r>
                      <a:rPr sz="2200">
                        <a:latin typeface="Cambria Math" panose="02040503050406030204" pitchFamily="18" charset="0"/>
                      </a:rPr>
                      <m:t>𝑓</m:t>
                    </m:r>
                    <m:r>
                      <a:rPr sz="2200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sz="22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sz="2200">
                        <a:latin typeface="Cambria Math" panose="02040503050406030204" pitchFamily="18" charset="0"/>
                      </a:rPr>
                      <m:t>=</m:t>
                    </m:r>
                    <m:r>
                      <a:rPr sz="2200">
                        <a:latin typeface="Cambria Math" panose="02040503050406030204" pitchFamily="18" charset="0"/>
                      </a:rPr>
                      <m:t>𝑔</m:t>
                    </m:r>
                    <m:r>
                      <a:rPr sz="2200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sz="22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sz="2200">
                        <a:latin typeface="Cambria Math" panose="02040503050406030204" pitchFamily="18" charset="0"/>
                      </a:rPr>
                      <m:t>⋅</m:t>
                    </m:r>
                    <m:r>
                      <a:rPr sz="220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sz="22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sz="2200">
                        <a:latin typeface="Cambria Math" panose="02040503050406030204" pitchFamily="18" charset="0"/>
                      </a:rPr>
                      <m:t>+</m:t>
                    </m:r>
                    <m:r>
                      <a:rPr sz="220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sz="22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sz="2200">
                        <a:latin typeface="Cambria Math" panose="02040503050406030204" pitchFamily="18" charset="0"/>
                      </a:rPr>
                      <m:t>⋅</m:t>
                    </m:r>
                    <m:r>
                      <a:rPr sz="2200">
                        <a:latin typeface="Cambria Math" panose="02040503050406030204" pitchFamily="18" charset="0"/>
                      </a:rPr>
                      <m:t>h</m:t>
                    </m:r>
                    <m:r>
                      <a:rPr sz="2200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sz="22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200" dirty="0"/>
                  <a:t>.</a:t>
                </a:r>
              </a:p>
              <a:p>
                <a:pPr marL="0" lvl="0" indent="0">
                  <a:buNone/>
                </a:pPr>
                <a:r>
                  <a:rPr sz="2200" dirty="0"/>
                  <a:t>Tips for Presentations</a:t>
                </a:r>
              </a:p>
              <a:p>
                <a:pPr lvl="0"/>
                <a:r>
                  <a:rPr sz="2200" dirty="0"/>
                  <a:t>Use pictures over text (e.g., include diagrams).</a:t>
                </a:r>
              </a:p>
              <a:p>
                <a:pPr lvl="0"/>
                <a:r>
                  <a:rPr sz="2200" dirty="0"/>
                  <a:t>Give examples before abstract definitions.</a:t>
                </a:r>
              </a:p>
              <a:p>
                <a:pPr lvl="0"/>
                <a:r>
                  <a:rPr sz="2200" dirty="0"/>
                  <a:t>Keep it short – time yourself!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8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267</Words>
  <Application>Microsoft Office PowerPoint</Application>
  <PresentationFormat>On-screen Show (16:9)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Cambria Math</vt:lpstr>
      <vt:lpstr>Office Theme</vt:lpstr>
      <vt:lpstr>A Brief Introduction to LaTeX for Scientific Writing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Brief Introduction to LaTeX for Scientific Writing</dc:title>
  <dc:creator>Mohammadhossein Farzanfar</dc:creator>
  <cp:keywords/>
  <cp:lastModifiedBy>Koosha Farzanfar</cp:lastModifiedBy>
  <cp:revision>1</cp:revision>
  <dcterms:created xsi:type="dcterms:W3CDTF">2025-12-06T14:34:41Z</dcterms:created>
  <dcterms:modified xsi:type="dcterms:W3CDTF">2025-12-06T14:39:43Z</dcterms:modified>
</cp:coreProperties>
</file>