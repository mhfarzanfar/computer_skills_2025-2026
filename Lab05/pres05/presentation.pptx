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8" Type="http://schemas.openxmlformats.org/officeDocument/2006/relationships/image" Target="../media/image5.jpg" /><Relationship Id="rId7" Type="http://schemas.openxmlformats.org/officeDocument/2006/relationships/image" Target="../media/image5.jpg" /><Relationship Id="rId6" Type="http://schemas.openxmlformats.org/officeDocument/2006/relationships/image" Target="../media/image5.jpg" /><Relationship Id="rId5" Type="http://schemas.openxmlformats.org/officeDocument/2006/relationships/image" Target="../media/image4.jpg" /><Relationship Id="rId4" Type="http://schemas.openxmlformats.org/officeDocument/2006/relationships/image" Target="../media/image3.jpg" /><Relationship Id="rId3" Type="http://schemas.openxmlformats.org/officeDocument/2006/relationships/image" Target="../media/image2.jpg" /><Relationship Id="rId2" Type="http://schemas.openxmlformats.org/officeDocument/2006/relationships/image" Target="../media/image1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Работа с таблицами в LaTeX</a:t>
            </a:r>
            <a:br/>
            <a:br/>
            <a:r>
              <a:rPr/>
              <a:t>Мохаммадхоссейн Фарзанфар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ноябрь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Освоить работу с таблицами в LaTeX: создание базовых таблиц, использование различных выравниваний, объединение ячеек, работа с пакетами </a:t>
            </a:r>
            <a:r>
              <a:rPr>
                <a:latin typeface="PT Mono"/>
              </a:rPr>
              <a:t>array</a:t>
            </a:r>
            <a:r>
              <a:rPr/>
              <a:t>, </a:t>
            </a:r>
            <a:r>
              <a:rPr>
                <a:latin typeface="PT Mono"/>
              </a:rPr>
              <a:t>booktabs</a:t>
            </a:r>
            <a:r>
              <a:rPr/>
              <a:t>, </a:t>
            </a:r>
            <a:r>
              <a:rPr>
                <a:latin typeface="PT Mono"/>
              </a:rPr>
              <a:t>siunitx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Создать базовую таблицу</a:t>
            </a:r>
          </a:p>
          <a:p>
            <a:pPr lvl="0" indent="-342900" marL="342900">
              <a:buAutoNum type="arabicPeriod"/>
            </a:pPr>
            <a:r>
              <a:rPr/>
              <a:t>Использовать различные выравнивания колонок (</a:t>
            </a:r>
            <a:r>
              <a:rPr>
                <a:latin typeface="PT Mono"/>
              </a:rPr>
              <a:t>l</a:t>
            </a:r>
            <a:r>
              <a:rPr/>
              <a:t>, </a:t>
            </a:r>
            <a:r>
              <a:rPr>
                <a:latin typeface="PT Mono"/>
              </a:rPr>
              <a:t>c</a:t>
            </a:r>
            <a:r>
              <a:rPr/>
              <a:t>, </a:t>
            </a:r>
            <a:r>
              <a:rPr>
                <a:latin typeface="PT Mono"/>
              </a:rPr>
              <a:t>r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Протестировать структуру таблицы (слишком мало/много элементов)</a:t>
            </a:r>
          </a:p>
          <a:p>
            <a:pPr lvl="0" indent="-342900" marL="342900">
              <a:buAutoNum type="arabicPeriod"/>
            </a:pPr>
            <a:r>
              <a:rPr/>
              <a:t>Экспериментировать с командой </a:t>
            </a:r>
            <a:r>
              <a:rPr>
                <a:latin typeface="PT Mono"/>
              </a:rPr>
              <a:t>\multicolumn</a:t>
            </a:r>
            <a:r>
              <a:rPr/>
              <a:t> для объединения ячеек</a:t>
            </a:r>
          </a:p>
          <a:p>
            <a:pPr lvl="0" indent="-342900" marL="342900">
              <a:buAutoNum type="arabicPeriod"/>
            </a:pPr>
            <a:r>
              <a:rPr/>
              <a:t>Создать профессиональную таблицу с использованием </a:t>
            </a:r>
            <a:r>
              <a:rPr>
                <a:latin typeface="PT Mono"/>
              </a:rPr>
              <a:t>booktabs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часть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Основные пакеты для работы с таблицами</a:t>
            </a:r>
          </a:p>
          <a:p>
            <a:pPr lvl="0"/>
            <a:r>
              <a:rPr b="1"/>
              <a:t>array</a:t>
            </a:r>
            <a:r>
              <a:rPr/>
              <a:t> - расширенная функциональность для таблиц</a:t>
            </a:r>
          </a:p>
          <a:p>
            <a:pPr lvl="0"/>
            <a:r>
              <a:rPr b="1"/>
              <a:t>booktabs</a:t>
            </a:r>
            <a:r>
              <a:rPr/>
              <a:t> - профессиональное оформление таблиц</a:t>
            </a:r>
          </a:p>
          <a:p>
            <a:pPr lvl="0"/>
            <a:r>
              <a:rPr b="1"/>
              <a:t>siunitx</a:t>
            </a:r>
            <a:r>
              <a:rPr/>
              <a:t> - выравнивание числовых данных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Команды booktabs</a:t>
            </a:r>
          </a:p>
          <a:p>
            <a:pPr lvl="0"/>
            <a:r>
              <a:rPr>
                <a:latin typeface="PT Mono"/>
              </a:rPr>
              <a:t>\toprule</a:t>
            </a:r>
            <a:r>
              <a:rPr/>
              <a:t> - верхняя линия таблицы</a:t>
            </a:r>
          </a:p>
          <a:p>
            <a:pPr lvl="0"/>
            <a:r>
              <a:rPr>
                <a:latin typeface="PT Mono"/>
              </a:rPr>
              <a:t>\midrule</a:t>
            </a:r>
            <a:r>
              <a:rPr/>
              <a:t> - средние разделители</a:t>
            </a:r>
          </a:p>
          <a:p>
            <a:pPr lvl="0"/>
            <a:r>
              <a:rPr>
                <a:latin typeface="PT Mono"/>
              </a:rPr>
              <a:t>\bottomrule</a:t>
            </a:r>
            <a:r>
              <a:rPr/>
              <a:t> - нижняя линия таблицы</a:t>
            </a:r>
          </a:p>
          <a:p>
            <a:pPr lvl="0"/>
            <a:r>
              <a:rPr>
                <a:latin typeface="PT Mono"/>
              </a:rPr>
              <a:t>\cmidrule</a:t>
            </a:r>
            <a:r>
              <a:rPr/>
              <a:t> - частичные горизонтальные линии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Создание документа и кода</a:t>
            </a:r>
          </a:p>
          <a:p>
            <a:pPr lvl="0" indent="0" marL="0">
              <a:buNone/>
            </a:pPr>
            <a:r>
              <a:rPr/>
              <a:t>Был создан файл </a:t>
            </a:r>
            <a:r>
              <a:rPr>
                <a:latin typeface="PT Mono"/>
              </a:rPr>
              <a:t>Lab5.tex</a:t>
            </a:r>
            <a:r>
              <a:rPr/>
              <a:t> с реализацией всех упражнений из раздела 5.14.</a:t>
            </a:r>
          </a:p>
        </p:txBody>
      </p:sp>
      <p:pic>
        <p:nvPicPr>
          <p:cNvPr descr="image05/Code%20Task%20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05200" y="1193800"/>
            <a:ext cx="213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 задания 1</a:t>
            </a:r>
          </a:p>
        </p:txBody>
      </p:sp>
      <p:pic>
        <p:nvPicPr>
          <p:cNvPr descr="image05/Code%20Task%202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93800"/>
            <a:ext cx="200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 задания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Компиляция документа</a:t>
            </a:r>
          </a:p>
          <a:p>
            <a:pPr lvl="0" indent="0" marL="0">
              <a:buNone/>
            </a:pPr>
            <a:r>
              <a:rPr/>
              <a:t>Документ скомпилирован с помощью команды:</a:t>
            </a:r>
          </a:p>
          <a:p>
            <a:pPr lvl="0" indent="0">
              <a:buNone/>
            </a:pPr>
            <a:r>
              <a:rPr>
                <a:latin typeface="PT Mono"/>
              </a:rPr>
              <a:t>pdflatex Lab5.tex</a:t>
            </a:r>
          </a:p>
        </p:txBody>
      </p:sp>
      <p:pic>
        <p:nvPicPr>
          <p:cNvPr descr="image05/Compile%20and%20files.jp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908300" y="1193800"/>
            <a:ext cx="334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Процесс компиляции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Результаты выполнения упражнений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Упражнение 1: Базовая таблица</a:t>
            </a:r>
          </a:p>
        </p:txBody>
      </p:sp>
      <p:pic>
        <p:nvPicPr>
          <p:cNvPr descr="image05/PDF%20Task%201.jp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378200" y="1193800"/>
            <a:ext cx="240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задания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1: Базовая таблица с использованием booktabs</a:t>
            </a:r>
          </a:p>
          <a:p>
            <a:pPr lvl="0" indent="0" marL="0">
              <a:buNone/>
            </a:pPr>
            <a:r>
              <a:rPr/>
              <a:t>Создана простая таблица с тремя колонками, использующая профессиональное оформление через пакет </a:t>
            </a:r>
            <a:r>
              <a:rPr>
                <a:latin typeface="PT Mono"/>
              </a:rPr>
              <a:t>booktabs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Упражнение 2: Различные выравнивания колонок</a:t>
            </a:r>
          </a:p>
        </p:txBody>
      </p:sp>
      <p:pic>
        <p:nvPicPr>
          <p:cNvPr descr="image05/PDF%20Task%202.jp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1981200" y="1193800"/>
            <a:ext cx="518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задания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2: Таблица с разными типами выравнивания</a:t>
            </a:r>
          </a:p>
          <a:p>
            <a:pPr lvl="0" indent="0" marL="0">
              <a:buNone/>
            </a:pPr>
            <a:r>
              <a:rPr/>
              <a:t>Продемонстрированы три типа выравнивания: - </a:t>
            </a:r>
            <a:r>
              <a:rPr>
                <a:latin typeface="PT Mono"/>
              </a:rPr>
              <a:t>l</a:t>
            </a:r>
            <a:r>
              <a:rPr/>
              <a:t> - выравнивание по левому краю - </a:t>
            </a:r>
            <a:r>
              <a:rPr>
                <a:latin typeface="PT Mono"/>
              </a:rPr>
              <a:t>c</a:t>
            </a:r>
            <a:r>
              <a:rPr/>
              <a:t> - выравнивание по центру - </a:t>
            </a:r>
            <a:r>
              <a:rPr>
                <a:latin typeface="PT Mono"/>
              </a:rPr>
              <a:t>r</a:t>
            </a:r>
            <a:r>
              <a:rPr/>
              <a:t> - выравнивание по правому краю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Упражнение 3: Тестирование структуры таблицы</a:t>
            </a:r>
          </a:p>
          <a:p>
            <a:pPr lvl="0" indent="0" marL="0">
              <a:buNone/>
            </a:pPr>
            <a:r>
              <a:rPr b="1"/>
              <a:t>Слишком мало элементов:</a:t>
            </a:r>
          </a:p>
          <a:p>
            <a:pPr lvl="0" indent="0">
              <a:buNone/>
            </a:pPr>
            <a:r>
              <a:rPr>
                <a:latin typeface="PT Mono"/>
              </a:rPr>
              <a:t>% Вызывает ошибку компиляции
% \begin{tabular}{ccc}
% A &amp; B &amp; C \\
% X &amp; Y     % Отсутствует третий элемент
% \end{tabular}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LaTeX выдает ошибку “Extra alignment tab has been changed to </a:t>
            </a:r>
            <a:r>
              <a:rPr>
                <a:latin typeface="PT Mono"/>
              </a:rPr>
              <a:t>\cr</a:t>
            </a:r>
            <a:r>
              <a:rPr/>
              <a:t>”</a:t>
            </a:r>
          </a:p>
          <a:p>
            <a:pPr lvl="0" indent="0" marL="0">
              <a:buNone/>
            </a:pPr>
            <a:r>
              <a:rPr b="1"/>
              <a:t>Слишком много элементов: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PT Mono"/>
              </a:rPr>
              <a:t>% Вызывает ошибку компиляции  </a:t>
            </a:r>
            <a:br/>
            <a:r>
              <a:rPr i="1">
                <a:solidFill>
                  <a:srgbClr val="60A0B0"/>
                </a:solidFill>
                <a:latin typeface="PT Mono"/>
              </a:rPr>
              <a:t>% \begin{tabular}{cc}</a:t>
            </a:r>
            <a:br/>
            <a:r>
              <a:rPr i="1">
                <a:solidFill>
                  <a:srgbClr val="60A0B0"/>
                </a:solidFill>
                <a:latin typeface="PT Mono"/>
              </a:rPr>
              <a:t>% 1 &amp; 2 &amp; 3 &amp; 4  % Слишком много элементов</a:t>
            </a:r>
            <a:br/>
            <a:r>
              <a:rPr i="1">
                <a:solidFill>
                  <a:srgbClr val="60A0B0"/>
                </a:solidFill>
                <a:latin typeface="PT Mono"/>
              </a:rPr>
              <a:t>% \end{tabular}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LaTeX выдает ошибку “Extra alignment tab has been changed to </a:t>
            </a:r>
            <a:r>
              <a:rPr>
                <a:latin typeface="PT Mono"/>
              </a:rPr>
              <a:t>\cr</a:t>
            </a:r>
            <a:r>
              <a:rPr/>
              <a:t>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Упражнение 4: Объединение ячеек с </a:t>
            </a:r>
            <a:r>
              <a:rPr b="1">
                <a:latin typeface="PT Mono"/>
              </a:rPr>
              <a:t>\multicolumn</a:t>
            </a:r>
          </a:p>
        </p:txBody>
      </p:sp>
      <p:pic>
        <p:nvPicPr>
          <p:cNvPr descr="image05/PDF%20Task%202.jp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1981200" y="1193800"/>
            <a:ext cx="518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задания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3: Объединение ячеек с помощью multicolumn</a:t>
            </a:r>
          </a:p>
          <a:p>
            <a:pPr lvl="0" indent="0" marL="0">
              <a:buNone/>
            </a:pPr>
            <a:r>
              <a:rPr/>
              <a:t>Использована команда </a:t>
            </a:r>
            <a:r>
              <a:rPr>
                <a:latin typeface="PT Mono"/>
              </a:rPr>
              <a:t>\multicolumn</a:t>
            </a:r>
            <a:r>
              <a:rPr/>
              <a:t> для: - Объединения двух колонок - Объединения всех четырех колонок - Центрирования содержимого объединенных ячеек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Упражнение 5: Профессиональная таблица</a:t>
            </a:r>
          </a:p>
        </p:txBody>
      </p:sp>
      <p:pic>
        <p:nvPicPr>
          <p:cNvPr descr="image05/PDF%20Task%202.jpg" id="0" name="Picture 1"/>
          <p:cNvPicPr>
            <a:picLocks noGrp="1"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981200" y="1193800"/>
            <a:ext cx="518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задания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4: Профессиональная таблица с числовыми данными</a:t>
            </a:r>
          </a:p>
          <a:p>
            <a:pPr lvl="0" indent="0" marL="0">
              <a:buNone/>
            </a:pPr>
            <a:r>
              <a:rPr/>
              <a:t>Создана таблица с: - Чистым оформлением через </a:t>
            </a:r>
            <a:r>
              <a:rPr>
                <a:latin typeface="PT Mono"/>
              </a:rPr>
              <a:t>booktabs</a:t>
            </a:r>
            <a:r>
              <a:rPr/>
              <a:t> - Числовыми данными, корректно выровненными - Отсутствием вертикальных линий для профессионального вида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№5 были освоены следующие навыки:</a:t>
            </a:r>
          </a:p>
          <a:p>
            <a:pPr lvl="0" indent="-342900" marL="342900">
              <a:buAutoNum type="arabicPeriod"/>
            </a:pPr>
            <a:r>
              <a:rPr b="1"/>
              <a:t>Создание базовых таблиц</a:t>
            </a:r>
            <a:r>
              <a:rPr/>
              <a:t> в LaTeX с использованием окружения </a:t>
            </a:r>
            <a:r>
              <a:rPr>
                <a:latin typeface="PT Mono"/>
              </a:rPr>
              <a:t>tabular</a:t>
            </a:r>
          </a:p>
          <a:p>
            <a:pPr lvl="0" indent="-342900" marL="342900">
              <a:buAutoNum type="arabicPeriod"/>
            </a:pPr>
            <a:r>
              <a:rPr b="1"/>
              <a:t>Управление выравниванием</a:t>
            </a:r>
            <a:r>
              <a:rPr/>
              <a:t> колонок с помощью спецификаторов </a:t>
            </a:r>
            <a:r>
              <a:rPr>
                <a:latin typeface="PT Mono"/>
              </a:rPr>
              <a:t>l</a:t>
            </a:r>
            <a:r>
              <a:rPr/>
              <a:t>, </a:t>
            </a:r>
            <a:r>
              <a:rPr>
                <a:latin typeface="PT Mono"/>
              </a:rPr>
              <a:t>c</a:t>
            </a:r>
            <a:r>
              <a:rPr/>
              <a:t>, </a:t>
            </a:r>
            <a:r>
              <a:rPr>
                <a:latin typeface="PT Mono"/>
              </a:rPr>
              <a:t>r</a:t>
            </a:r>
          </a:p>
          <a:p>
            <a:pPr lvl="0" indent="-342900" marL="342900">
              <a:buAutoNum type="arabicPeriod"/>
            </a:pPr>
            <a:r>
              <a:rPr b="1"/>
              <a:t>Понимание структуры таблиц</a:t>
            </a:r>
            <a:r>
              <a:rPr/>
              <a:t> - важность соответствия количества элементов и объявленных колонок</a:t>
            </a:r>
          </a:p>
          <a:p>
            <a:pPr lvl="0" indent="-342900" marL="342900">
              <a:buAutoNum type="arabicPeriod"/>
            </a:pPr>
            <a:r>
              <a:rPr b="1"/>
              <a:t>Объединение ячеек</a:t>
            </a:r>
            <a:r>
              <a:rPr/>
              <a:t> с помощью команды </a:t>
            </a:r>
            <a:r>
              <a:rPr>
                <a:latin typeface="PT Mono"/>
              </a:rPr>
              <a:t>\multicolumn</a:t>
            </a:r>
            <a:r>
              <a:rPr/>
              <a:t> для создания сложных табличных структур</a:t>
            </a:r>
          </a:p>
          <a:p>
            <a:pPr lvl="0" indent="-342900" marL="342900">
              <a:buAutoNum type="arabicPeriod"/>
            </a:pPr>
            <a:r>
              <a:rPr b="1"/>
              <a:t>Профессиональное оформление</a:t>
            </a:r>
            <a:r>
              <a:rPr/>
              <a:t> таблиц с использованием пакета </a:t>
            </a:r>
            <a:r>
              <a:rPr>
                <a:latin typeface="PT Mono"/>
              </a:rPr>
              <a:t>booktabs</a:t>
            </a:r>
          </a:p>
          <a:p>
            <a:pPr lvl="0" indent="-342900" marL="342900">
              <a:buAutoNum type="arabicPeriod"/>
            </a:pPr>
            <a:r>
              <a:rPr b="1"/>
              <a:t>Работа с числовыми данными</a:t>
            </a:r>
            <a:r>
              <a:rPr/>
              <a:t> и их корректное выравнивание</a:t>
            </a:r>
          </a:p>
          <a:p>
            <a:pPr lvl="0" indent="0" marL="0">
              <a:buNone/>
            </a:pPr>
            <a:r>
              <a:rPr/>
              <a:t>Освоение работы с таблицами в LaTeX является важным навыком для подготовки научных публикаций и отчетов, так как таблицы широко используются для представления структурированных данных в академической среде. Пакет </a:t>
            </a:r>
            <a:r>
              <a:rPr>
                <a:latin typeface="PT Mono"/>
              </a:rPr>
              <a:t>booktabs</a:t>
            </a:r>
            <a:r>
              <a:rPr/>
              <a:t> позволяет создавать эстетически приятные и профессионально выглядящие таблицы, соответствующие стандартам научных изданий.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Мохаммадхоссейн Фарзанфар</dc:creator>
  <cp:keywords/>
  <dcterms:created xsi:type="dcterms:W3CDTF">2025-11-08T11:25:53Z</dcterms:created>
  <dcterms:modified xsi:type="dcterms:W3CDTF">2025-11-08T11:25:53Z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8 ноябрь 2025</vt:lpwstr>
  </property>
  <property fmtid="{D5CDD505-2E9C-101B-9397-08002B2CF9AE}" pid="3" name="documentclass">
    <vt:lpwstr>scrreprt</vt:lpwstr>
  </property>
  <property fmtid="{D5CDD505-2E9C-101B-9397-08002B2CF9AE}" pid="4" name="fontsize">
    <vt:lpwstr>12pt</vt:lpwstr>
  </property>
  <property fmtid="{D5CDD505-2E9C-101B-9397-08002B2CF9AE}" pid="5" name="header-includes">
    <vt:lpwstr/>
  </property>
  <property fmtid="{D5CDD505-2E9C-101B-9397-08002B2CF9AE}" pid="6" name="indent">
    <vt:lpwstr>True</vt:lpwstr>
  </property>
  <property fmtid="{D5CDD505-2E9C-101B-9397-08002B2CF9AE}" pid="7" name="institute">
    <vt:lpwstr>РУДН, Москва, Россия</vt:lpwstr>
  </property>
  <property fmtid="{D5CDD505-2E9C-101B-9397-08002B2CF9AE}" pid="8" name="linestretch">
    <vt:lpwstr>1.5</vt:lpwstr>
  </property>
  <property fmtid="{D5CDD505-2E9C-101B-9397-08002B2CF9AE}" pid="9" name="mainfont">
    <vt:lpwstr>PT Serif</vt:lpwstr>
  </property>
  <property fmtid="{D5CDD505-2E9C-101B-9397-08002B2CF9AE}" pid="10" name="mainfontoptions">
    <vt:lpwstr>Ligatures=TeX</vt:lpwstr>
  </property>
  <property fmtid="{D5CDD505-2E9C-101B-9397-08002B2CF9AE}" pid="11" name="monofont">
    <vt:lpwstr>PT Mono</vt:lpwstr>
  </property>
  <property fmtid="{D5CDD505-2E9C-101B-9397-08002B2CF9AE}" pid="12" name="monofontoptions">
    <vt:lpwstr>Scale=MatchLowercase</vt:lpwstr>
  </property>
  <property fmtid="{D5CDD505-2E9C-101B-9397-08002B2CF9AE}" pid="13" name="papersize">
    <vt:lpwstr>a4paper</vt:lpwstr>
  </property>
  <property fmtid="{D5CDD505-2E9C-101B-9397-08002B2CF9AE}" pid="14" name="pdf-engine">
    <vt:lpwstr>lualatex</vt:lpwstr>
  </property>
  <property fmtid="{D5CDD505-2E9C-101B-9397-08002B2CF9AE}" pid="15" name="polyglossia-lang">
    <vt:lpwstr>russian</vt:lpwstr>
  </property>
  <property fmtid="{D5CDD505-2E9C-101B-9397-08002B2CF9AE}" pid="16" name="polyglossia-otherlangs">
    <vt:lpwstr>english</vt:lpwstr>
  </property>
  <property fmtid="{D5CDD505-2E9C-101B-9397-08002B2CF9AE}" pid="17" name="romanfont">
    <vt:lpwstr>PT Serif</vt:lpwstr>
  </property>
  <property fmtid="{D5CDD505-2E9C-101B-9397-08002B2CF9AE}" pid="18" name="romanfontoptions">
    <vt:lpwstr>Ligatures=TeX</vt:lpwstr>
  </property>
  <property fmtid="{D5CDD505-2E9C-101B-9397-08002B2CF9AE}" pid="19" name="sansfont">
    <vt:lpwstr>PT Sans</vt:lpwstr>
  </property>
  <property fmtid="{D5CDD505-2E9C-101B-9397-08002B2CF9AE}" pid="20" name="sansfontoptions">
    <vt:lpwstr>Ligatures=TeX,Scale=MatchLowercase</vt:lpwstr>
  </property>
  <property fmtid="{D5CDD505-2E9C-101B-9397-08002B2CF9AE}" pid="21" name="subtitle">
    <vt:lpwstr>Работа с таблицами в LaTeX</vt:lpwstr>
  </property>
  <property fmtid="{D5CDD505-2E9C-101B-9397-08002B2CF9AE}" pid="22" name="toc">
    <vt:lpwstr>True</vt:lpwstr>
  </property>
  <property fmtid="{D5CDD505-2E9C-101B-9397-08002B2CF9AE}" pid="23" name="toc_depth">
    <vt:lpwstr>2</vt:lpwstr>
  </property>
</Properties>
</file>